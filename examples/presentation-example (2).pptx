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93"/>
  </p:normalViewPr>
  <p:slideViewPr>
    <p:cSldViewPr snapToGrid="0" snapToObjects="1">
      <p:cViewPr varScale="1">
        <p:scale>
          <a:sx n="118" d="100"/>
          <a:sy n="118" d="100"/>
        </p:scale>
        <p:origin x="46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21212"/>
              </a:gs>
              <a:gs pos="100000">
                <a:srgbClr val="121212"/>
              </a:gs>
            </a:gsLst>
            <a:lin ang="189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x_cover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160520"/>
            <a:ext cx="12191695" cy="269748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4434840"/>
            <a:ext cx="10972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CFAF7"/>
                </a:solidFill>
                <a:latin typeface="Georgia"/>
              </a:defRPr>
            </a:pPr>
            <a:r>
              <a:t>Мода: как ткань ломает эпоху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747372"/>
                </a:solidFill>
                <a:latin typeface="Calibri"/>
              </a:defRPr>
            </a:pPr>
            <a:r>
              <a:t>01  / 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CFAF7"/>
              </a:gs>
              <a:gs pos="100000">
                <a:srgbClr val="DFDEDB"/>
              </a:gs>
            </a:gsLst>
            <a:lin ang="189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x_1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160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434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1212"/>
                </a:solidFill>
                <a:latin typeface="Georgia"/>
              </a:defRPr>
            </a:pPr>
            <a:r>
              <a:t>Кринолин сгорел вместе с двором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49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6423E"/>
                </a:solidFill>
                <a:latin typeface="Calibri"/>
              </a:defRPr>
            </a:pPr>
            <a:r>
              <a:t>При дворе Марии-Антуанетты юбка на китовом усе занимала два метра в ширину: тяжёлый атлас и метры кружева. После 1793 года каркас исчез за считанные месяцы. Париж перешёл на тонкий муслин без каркаса — не из каприза, а чтобы тканью показать новую лояльность.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C8680"/>
                </a:solidFill>
                <a:latin typeface="Calibri"/>
              </a:defRPr>
            </a:pPr>
            <a:r>
              <a:t>02  / 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CFAF7"/>
              </a:gs>
              <a:gs pos="100000">
                <a:srgbClr val="DFDEDB"/>
              </a:gs>
            </a:gsLst>
            <a:lin ang="189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6949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21212"/>
                </a:solidFill>
                <a:latin typeface="Georgia"/>
              </a:defRPr>
            </a:pPr>
            <a:r>
              <a:t>Молния обогнала пуговицу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66160"/>
            <a:ext cx="6766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6423E"/>
                </a:solidFill>
                <a:latin typeface="Calibri"/>
              </a:defRPr>
            </a:pPr>
            <a:r>
              <a:t>Раньше мужские брюки закрывались на дюжину мелких пуговиц — только на застёжку уходили минуты. В 1925-м молния Hookless сократила это до секунд. Крой сразу стал уже: когда застёжка не спорит с тканью, посадка может быть плотной.</a:t>
            </a:r>
          </a:p>
        </p:txBody>
      </p:sp>
      <p:pic>
        <p:nvPicPr>
          <p:cNvPr id="5" name="Picture 4" descr="ex_2_t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188720"/>
            <a:ext cx="356616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355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C8680"/>
                </a:solidFill>
                <a:latin typeface="Calibri"/>
              </a:defRPr>
            </a:pPr>
            <a:r>
              <a:t>03  / 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CFAF7"/>
              </a:gs>
              <a:gs pos="100000">
                <a:srgbClr val="DFDEDB"/>
              </a:gs>
            </a:gsLst>
            <a:lin ang="189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21212"/>
                </a:solidFill>
                <a:latin typeface="Georgia"/>
              </a:defRPr>
            </a:pPr>
            <a:r>
              <a:t>Нейлон вытеснил шёлк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349240" cy="4251960"/>
          </a:xfrm>
          <a:prstGeom prst="roundRect">
            <a:avLst>
              <a:gd name="adj" fmla="val 5000"/>
            </a:avLst>
          </a:prstGeom>
          <a:solidFill>
            <a:srgbClr val="DF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19" y="2103120"/>
            <a:ext cx="4709159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6423E"/>
                </a:solidFill>
                <a:latin typeface="Calibri"/>
              </a:defRPr>
            </a:pPr>
            <a:r>
              <a:t>Шёлковые чулки стоили дорого и жили три носки. В 1940-м DuPont выпустил нейлон — к 1942 году им пользовались девять из десяти американок.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828800"/>
            <a:ext cx="5349240" cy="4251960"/>
          </a:xfrm>
          <a:prstGeom prst="roundRect">
            <a:avLst>
              <a:gd name="adj" fmla="val 5000"/>
            </a:avLst>
          </a:prstGeom>
          <a:solidFill>
            <a:srgbClr val="DF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79" y="2103120"/>
            <a:ext cx="4709159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6423E"/>
                </a:solidFill>
                <a:latin typeface="Calibri"/>
              </a:defRPr>
            </a:pPr>
            <a:r>
              <a:t>Цена упала втрое, прочность выросла в пять раз. Часы штопки ушли из быта — и деньги пошли на то, что ещё вчера казалось роскошью.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C8680"/>
                </a:solidFill>
                <a:latin typeface="Calibri"/>
              </a:defRPr>
            </a:pPr>
            <a:r>
              <a:t>04  / 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CFAF7"/>
              </a:gs>
              <a:gs pos="100000">
                <a:srgbClr val="DFDEDB"/>
              </a:gs>
            </a:gsLst>
            <a:lin ang="189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21212"/>
                </a:solidFill>
                <a:latin typeface="Georgia"/>
              </a:defRPr>
            </a:pPr>
            <a:r>
              <a:t>Dior сузил плечи в 1947-м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B5B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13815" y="200253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63040" y="1737360"/>
            <a:ext cx="9601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 err="1">
                <a:latin typeface="Calibri"/>
              </a:rPr>
              <a:t>Война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держала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плечо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широким</a:t>
            </a:r>
            <a:r>
              <a:rPr sz="1600" dirty="0">
                <a:latin typeface="Calibri"/>
              </a:rPr>
              <a:t>: </a:t>
            </a:r>
            <a:r>
              <a:rPr sz="1600" dirty="0" err="1">
                <a:latin typeface="Calibri"/>
              </a:rPr>
              <a:t>ватная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подкладка</a:t>
            </a:r>
            <a:r>
              <a:rPr sz="1600" dirty="0">
                <a:latin typeface="Calibri"/>
              </a:rPr>
              <a:t>, </a:t>
            </a:r>
            <a:r>
              <a:rPr sz="1600" dirty="0" err="1">
                <a:latin typeface="Calibri"/>
              </a:rPr>
              <a:t>жёсткий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силуэт</a:t>
            </a:r>
            <a:r>
              <a:rPr sz="1600" dirty="0">
                <a:latin typeface="Calibri"/>
              </a:rPr>
              <a:t>, </a:t>
            </a:r>
            <a:r>
              <a:rPr sz="1600" dirty="0" err="1">
                <a:latin typeface="Calibri"/>
              </a:rPr>
              <a:t>форма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почти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как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китель</a:t>
            </a:r>
            <a:r>
              <a:rPr sz="1600" dirty="0">
                <a:latin typeface="Calibri"/>
              </a:rPr>
              <a:t>. New Look </a:t>
            </a:r>
            <a:r>
              <a:rPr sz="1600" dirty="0" err="1">
                <a:latin typeface="Calibri"/>
              </a:rPr>
              <a:t>Диора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убрал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этот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каркас</a:t>
            </a:r>
            <a:r>
              <a:rPr sz="1600" dirty="0">
                <a:latin typeface="Calibri"/>
              </a:rPr>
              <a:t>. </a:t>
            </a:r>
            <a:r>
              <a:rPr sz="1600" dirty="0" err="1">
                <a:latin typeface="Calibri"/>
              </a:rPr>
              <a:t>Талия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снова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стала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узкой</a:t>
            </a:r>
            <a:r>
              <a:rPr sz="1600" dirty="0">
                <a:latin typeface="Calibri"/>
              </a:rPr>
              <a:t>, </a:t>
            </a:r>
            <a:r>
              <a:rPr sz="1600" dirty="0" err="1">
                <a:latin typeface="Calibri"/>
              </a:rPr>
              <a:t>юбка</a:t>
            </a:r>
            <a:r>
              <a:rPr sz="1600" dirty="0">
                <a:latin typeface="Calibri"/>
              </a:rPr>
              <a:t> — </a:t>
            </a:r>
            <a:r>
              <a:rPr sz="1600" dirty="0" err="1">
                <a:latin typeface="Calibri"/>
              </a:rPr>
              <a:t>полной</a:t>
            </a:r>
            <a:r>
              <a:rPr sz="1600" dirty="0">
                <a:latin typeface="Calibri"/>
              </a:rPr>
              <a:t>, </a:t>
            </a:r>
            <a:r>
              <a:rPr sz="1600" dirty="0" err="1">
                <a:latin typeface="Calibri"/>
              </a:rPr>
              <a:t>плечо</a:t>
            </a:r>
            <a:r>
              <a:rPr sz="1600" dirty="0">
                <a:latin typeface="Calibri"/>
              </a:rPr>
              <a:t> — </a:t>
            </a:r>
            <a:r>
              <a:rPr sz="1600" dirty="0" err="1">
                <a:latin typeface="Calibri"/>
              </a:rPr>
              <a:t>человеческим</a:t>
            </a:r>
            <a:r>
              <a:rPr sz="1600" dirty="0"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089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B5B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13815" y="328269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3017520"/>
            <a:ext cx="9601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 err="1">
                <a:latin typeface="Calibri"/>
              </a:rPr>
              <a:t>Это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был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не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каприз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длины</a:t>
            </a:r>
            <a:r>
              <a:rPr sz="1600" dirty="0">
                <a:latin typeface="Calibri"/>
              </a:rPr>
              <a:t>. </a:t>
            </a:r>
            <a:r>
              <a:rPr sz="1600" dirty="0" err="1">
                <a:latin typeface="Calibri"/>
              </a:rPr>
              <a:t>После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лет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формы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женщина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получила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обратно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объём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там</a:t>
            </a:r>
            <a:r>
              <a:rPr sz="1600" dirty="0">
                <a:latin typeface="Calibri"/>
              </a:rPr>
              <a:t>, </a:t>
            </a:r>
            <a:r>
              <a:rPr sz="1600" dirty="0" err="1">
                <a:latin typeface="Calibri"/>
              </a:rPr>
              <a:t>где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его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отняла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необходимость</a:t>
            </a:r>
            <a:r>
              <a:rPr sz="1600" dirty="0">
                <a:latin typeface="Calibri"/>
              </a:rPr>
              <a:t>, </a:t>
            </a:r>
            <a:r>
              <a:rPr sz="1600" dirty="0" err="1">
                <a:latin typeface="Calibri"/>
              </a:rPr>
              <a:t>и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отказалась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от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плеча</a:t>
            </a:r>
            <a:r>
              <a:rPr sz="1600" dirty="0">
                <a:latin typeface="Calibri"/>
              </a:rPr>
              <a:t>, </a:t>
            </a:r>
            <a:r>
              <a:rPr sz="1600" dirty="0" err="1">
                <a:latin typeface="Calibri"/>
              </a:rPr>
              <a:t>которое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изображало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силу</a:t>
            </a:r>
            <a:r>
              <a:rPr sz="1600" dirty="0"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21212"/>
              </a:gs>
              <a:gs pos="100000">
                <a:srgbClr val="121212"/>
              </a:gs>
            </a:gsLst>
            <a:lin ang="189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CFAF7"/>
                </a:solidFill>
                <a:latin typeface="Georgia"/>
              </a:defRPr>
            </a:pPr>
            <a:r>
              <a:t>Джинсы зашли с улицы в дом</a:t>
            </a:r>
          </a:p>
        </p:txBody>
      </p:sp>
      <p:sp>
        <p:nvSpPr>
          <p:cNvPr id="4" name="Rectangle 3"/>
          <p:cNvSpPr/>
          <p:nvPr/>
        </p:nvSpPr>
        <p:spPr>
          <a:xfrm>
            <a:off x="880567" y="2423160"/>
            <a:ext cx="21945" cy="1417320"/>
          </a:xfrm>
          <a:prstGeom prst="rect">
            <a:avLst/>
          </a:prstGeom>
          <a:solidFill>
            <a:srgbClr val="747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847088"/>
            <a:ext cx="9464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AAA8A6"/>
                </a:solidFill>
                <a:latin typeface="Calibri"/>
              </a:defRPr>
            </a:pPr>
            <a:r>
              <a:rPr>
                <a:solidFill/>
              </a:rPr>
              <a:t>До середины 1960-х Levi's 501 были рабочей парой и почти не попадали на обычную витрину. Когда их начали продавать как повседневную одежду, продажи за два года выросли втрое.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33375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64408"/>
            <a:ext cx="9464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AAA8A6"/>
                </a:solidFill>
                <a:latin typeface="Calibri"/>
              </a:defRPr>
            </a:pPr>
            <a:r>
              <a:t>Граница «улица / дом» исчезла. Деним остался в гостиной по простой причине: его не нужно беречь. Носишь каждый день — и он это выдерживает.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55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747372"/>
                </a:solidFill>
                <a:latin typeface="Calibri"/>
              </a:defRPr>
            </a:pPr>
            <a:r>
              <a:t>06  / 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312</Words>
  <Application>Microsoft Macintosh PowerPoint</Application>
  <PresentationFormat>Широкоэкранный</PresentationFormat>
  <Paragraphs>21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Microsoft Office User</cp:lastModifiedBy>
  <cp:revision>2</cp:revision>
  <dcterms:created xsi:type="dcterms:W3CDTF">2013-01-27T09:14:16Z</dcterms:created>
  <dcterms:modified xsi:type="dcterms:W3CDTF">2026-09-13T18:22:46Z</dcterms:modified>
  <cp:category/>
</cp:coreProperties>
</file>