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D4AF5A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48</c:v>
                </c:pt>
                <c:pt idx="2">
                  <c:v>51</c:v>
                </c:pt>
                <c:pt idx="3">
                  <c:v>63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solidFill>
                    <a:srgbClr val="F5F5F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78787E"/>
            </a:solidFill>
          </a:ln>
        </c:spPr>
        <c:txPr>
          <a:bodyPr/>
          <a:lstStyle/>
          <a:p>
            <a:pPr>
              <a:defRPr sz="1000">
                <a:solidFill>
                  <a:srgbClr val="78787E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spPr>
          <a:ln>
            <a:solidFill>
              <a:srgbClr val="78787E"/>
            </a:solidFill>
          </a:ln>
        </c:spPr>
        <c:txPr>
          <a:bodyPr/>
          <a:lstStyle/>
          <a:p>
            <a:pPr>
              <a:defRPr sz="1000">
                <a:solidFill>
                  <a:srgbClr val="78787E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01012"/>
              </a:gs>
              <a:gs pos="100000">
                <a:srgbClr val="27231A"/>
              </a:gs>
            </a:gsLst>
            <a:lin scaled="0" ang="18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ver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4297680"/>
            <a:ext cx="12191695" cy="2560320"/>
          </a:xfrm>
          <a:prstGeom prst="rect">
            <a:avLst/>
          </a:prstGeom>
          <a:solidFill>
            <a:srgbClr val="101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572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5F5F7"/>
                </a:solidFill>
                <a:latin typeface="Calibri"/>
              </a:defRPr>
            </a:pPr>
            <a:r>
              <a:t>Стратегия роста продаж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78787E"/>
                </a:solidFill>
                <a:latin typeface="Calibri"/>
              </a:defRPr>
            </a:pPr>
            <a:r>
              <a:t>01  /  введение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01012"/>
              </a:gs>
              <a:gs pos="100000">
                <a:srgbClr val="27231A"/>
              </a:gs>
            </a:gsLst>
            <a:lin scaled="0" ang="18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6949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5F5F7"/>
                </a:solidFill>
                <a:latin typeface="Calibri"/>
              </a:defRPr>
            </a:pPr>
            <a:r>
              <a:t>Рынок меняется быстрее прогнозов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3291840"/>
            <a:ext cx="1005840" cy="54864"/>
          </a:xfrm>
          <a:prstGeom prst="rect">
            <a:avLst/>
          </a:prstGeom>
          <a:solidFill>
            <a:srgbClr val="D4A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566160"/>
            <a:ext cx="67665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4C4C8"/>
                </a:solidFill>
                <a:latin typeface="Calibri"/>
              </a:defRPr>
            </a:pPr>
            <a:r>
              <a:t>За последний год средний цикл сделки в B2B сократился на 18%, а доля решений, принимаемых без личной встречи, выросла до 63%. Компании, которые не перестроили воронку под это, теряют долю рынка быстрее, чем успевают заметить.</a:t>
            </a:r>
          </a:p>
        </p:txBody>
      </p:sp>
      <p:pic>
        <p:nvPicPr>
          <p:cNvPr id="6" name="Picture 5" descr="s2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79" y="1188720"/>
            <a:ext cx="3566160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3550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78787E"/>
                </a:solidFill>
                <a:latin typeface="Calibri"/>
              </a:defRPr>
            </a:pPr>
            <a:r>
              <a:t>02  /  05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01012"/>
              </a:gs>
              <a:gs pos="100000">
                <a:srgbClr val="27231A"/>
              </a:gs>
            </a:gsLst>
            <a:lin scaled="0" ang="18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5F5F7"/>
                </a:solidFill>
                <a:latin typeface="Calibri"/>
              </a:defRPr>
            </a:pPr>
            <a:r>
              <a:t>Выручка по кварталам, млн ₽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822960" y="1463040"/>
          <a:ext cx="1051560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3550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78787E"/>
                </a:solidFill>
                <a:latin typeface="Calibri"/>
              </a:defRPr>
            </a:pPr>
            <a:r>
              <a:t>03  /  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01012"/>
              </a:gs>
              <a:gs pos="100000">
                <a:srgbClr val="27231A"/>
              </a:gs>
            </a:gsLst>
            <a:lin scaled="0" ang="18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5F5F7"/>
                </a:solidFill>
                <a:latin typeface="Calibri"/>
              </a:defRPr>
            </a:pPr>
            <a:r>
              <a:t>Три драйвера роста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05840" cy="54864"/>
          </a:xfrm>
          <a:prstGeom prst="rect">
            <a:avLst/>
          </a:prstGeom>
          <a:solidFill>
            <a:srgbClr val="D4A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5349240" cy="4251960"/>
          </a:xfrm>
          <a:prstGeom prst="rect">
            <a:avLst/>
          </a:prstGeom>
          <a:solidFill>
            <a:srgbClr val="FA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19" y="2103120"/>
            <a:ext cx="470916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4C4C8"/>
                </a:solidFill>
                <a:latin typeface="Calibri"/>
              </a:defRPr>
            </a:pPr>
            <a:r>
              <a:t>Расширение в средний сегмент: клиенты 50-250 сотрудников дают на 40% выше LTV при той же стоимости привлечения.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1828800"/>
            <a:ext cx="5349240" cy="4251960"/>
          </a:xfrm>
          <a:prstGeom prst="rect">
            <a:avLst/>
          </a:prstGeom>
          <a:solidFill>
            <a:srgbClr val="FA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79" y="2103120"/>
            <a:ext cx="470916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4C4C8"/>
                </a:solidFill>
                <a:latin typeface="Calibri"/>
              </a:defRPr>
            </a:pPr>
            <a:r>
              <a:t>Партнёрские интеграции: три новых канала продаж через ИТ-партнёров запущены в Q3, первые сделки уже закрыты.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550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78787E"/>
                </a:solidFill>
                <a:latin typeface="Calibri"/>
              </a:defRPr>
            </a:pPr>
            <a:r>
              <a:t>04  /  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01012"/>
              </a:gs>
              <a:gs pos="100000">
                <a:srgbClr val="27231A"/>
              </a:gs>
            </a:gsLst>
            <a:lin scaled="0" ang="18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5_sr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4160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44348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5F5F7"/>
                </a:solidFill>
                <a:latin typeface="Calibri"/>
              </a:defRPr>
            </a:pPr>
            <a:r>
              <a:t>Итог: фокус на средний сегмент и партнёрские каналы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492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4C4C8"/>
                </a:solidFill>
                <a:latin typeface="Calibri"/>
              </a:defRPr>
            </a:pPr>
            <a:r>
              <a:t>План на 2026 год утверждён: рост выручки на 35% при сохранении текущей команды продаж за счёт перераспределения приоритетов.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